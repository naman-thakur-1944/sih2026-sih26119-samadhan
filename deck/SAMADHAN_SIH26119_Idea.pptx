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02020"/>
                </a:solidFill>
              </a:rPr>
              <a:t>Solve time, refinery planning LP (log scale)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HiGHS, CPU (best method)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Sheet1!$A$2:$A$5</c:f>
              <c:strCache>
                <c:ptCount val="4"/>
                <c:pt idx="0">
                  <c:v>13k vars</c:v>
                </c:pt>
                <c:pt idx="1">
                  <c:v>110k vars</c:v>
                </c:pt>
                <c:pt idx="2">
                  <c:v>406k vars</c:v>
                </c:pt>
                <c:pt idx="3">
                  <c:v>1.16M vars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0.24</c:v>
                </c:pt>
                <c:pt idx="1">
                  <c:v>8.51</c:v>
                </c:pt>
                <c:pt idx="2">
                  <c:v>63.88</c:v>
                </c:pt>
                <c:pt idx="3">
                  <c:v>323.38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SAMADHAN GPU, accurate (1e-6)</c:v>
                </c:pt>
              </c:strCache>
            </c:strRef>
          </c:tx>
          <c:spPr>
            <a:solidFill>
              <a:srgbClr val="1F4E9A"/>
            </a:solidFill>
          </c:spPr>
          <c:cat>
            <c:strRef>
              <c:f>Sheet1!$A$2:$A$5</c:f>
              <c:strCache>
                <c:ptCount val="4"/>
                <c:pt idx="0">
                  <c:v>13k vars</c:v>
                </c:pt>
                <c:pt idx="1">
                  <c:v>110k vars</c:v>
                </c:pt>
                <c:pt idx="2">
                  <c:v>406k vars</c:v>
                </c:pt>
                <c:pt idx="3">
                  <c:v>1.16M vars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2.16</c:v>
                </c:pt>
                <c:pt idx="1">
                  <c:v>12.58</c:v>
                </c:pt>
                <c:pt idx="2">
                  <c:v>30.66</c:v>
                </c:pt>
                <c:pt idx="3">
                  <c:v>63.68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SAMADHAN GPU, fast (1e-4)</c:v>
                </c:pt>
              </c:strCache>
            </c:strRef>
          </c:tx>
          <c:spPr>
            <a:solidFill>
              <a:srgbClr val="6FA8DC"/>
            </a:solidFill>
          </c:spPr>
          <c:cat>
            <c:strRef>
              <c:f>Sheet1!$A$2:$A$5</c:f>
              <c:strCache>
                <c:ptCount val="4"/>
                <c:pt idx="0">
                  <c:v>13k vars</c:v>
                </c:pt>
                <c:pt idx="1">
                  <c:v>110k vars</c:v>
                </c:pt>
                <c:pt idx="2">
                  <c:v>406k vars</c:v>
                </c:pt>
                <c:pt idx="3">
                  <c:v>1.16M vars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0.71</c:v>
                </c:pt>
                <c:pt idx="1">
                  <c:v>1.78</c:v>
                </c:pt>
                <c:pt idx="2">
                  <c:v>5.27</c:v>
                </c:pt>
                <c:pt idx="3">
                  <c:v>15.0</c:v>
                </c:pt>
              </c:numCache>
            </c:numRef>
          </c:val>
        </c:ser>
        <c:dLbls>
          <c:numFmt formatCode="[&lt;1]0.0&quot; s&quot;;0&quot; s&quot;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At val="0.1"/>
        <c:auto val="1"/>
        <c:lblAlgn val="ctr"/>
        <c:lblOffset val="100"/>
        <c:noMultiLvlLbl val="0"/>
      </c:catAx>
      <c:valAx>
        <c:axId val="-2113994440"/>
        <c:scaling>
          <c:logBase val="10"/>
          <c:min val="0.1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[&lt;1]0.0&quot; s&quot;;0&quot; s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Solve time vs model size (seconds, log scale)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HiGHS (best)</c:v>
                </c:pt>
              </c:strCache>
            </c:strRef>
          </c:tx>
          <c:spPr>
            <a:ln w="31750">
              <a:solidFill>
                <a:srgbClr val="A6A6A6"/>
              </a:solidFill>
            </a:ln>
          </c:spPr>
          <c:marker>
            <c:spPr>
              <a:solidFill>
                <a:srgbClr val="A6A6A6"/>
              </a:solidFill>
              <a:ln>
                <a:solidFill>
                  <a:srgbClr val="A6A6A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13k</c:v>
                </c:pt>
                <c:pt idx="1">
                  <c:v>110k</c:v>
                </c:pt>
                <c:pt idx="2">
                  <c:v>406k</c:v>
                </c:pt>
                <c:pt idx="3">
                  <c:v>1.16M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0.24</c:v>
                </c:pt>
                <c:pt idx="1">
                  <c:v>8.51</c:v>
                </c:pt>
                <c:pt idx="2">
                  <c:v>63.88</c:v>
                </c:pt>
                <c:pt idx="3">
                  <c:v>323.38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SAMADHAN accurate</c:v>
                </c:pt>
              </c:strCache>
            </c:strRef>
          </c:tx>
          <c:spPr>
            <a:ln w="31750">
              <a:solidFill>
                <a:srgbClr val="1F4E9A"/>
              </a:solidFill>
            </a:ln>
          </c:spPr>
          <c:marker>
            <c:spPr>
              <a:solidFill>
                <a:srgbClr val="1F4E9A"/>
              </a:solidFill>
              <a:ln>
                <a:solidFill>
                  <a:srgbClr val="1F4E9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13k</c:v>
                </c:pt>
                <c:pt idx="1">
                  <c:v>110k</c:v>
                </c:pt>
                <c:pt idx="2">
                  <c:v>406k</c:v>
                </c:pt>
                <c:pt idx="3">
                  <c:v>1.16M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2.16</c:v>
                </c:pt>
                <c:pt idx="1">
                  <c:v>12.58</c:v>
                </c:pt>
                <c:pt idx="2">
                  <c:v>30.66</c:v>
                </c:pt>
                <c:pt idx="3">
                  <c:v>63.68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SAMADHAN fast</c:v>
                </c:pt>
              </c:strCache>
            </c:strRef>
          </c:tx>
          <c:spPr>
            <a:ln w="31750">
              <a:solidFill>
                <a:srgbClr val="6FA8DC"/>
              </a:solidFill>
            </a:ln>
          </c:spPr>
          <c:marker>
            <c:spPr>
              <a:solidFill>
                <a:srgbClr val="6FA8DC"/>
              </a:solidFill>
              <a:ln>
                <a:solidFill>
                  <a:srgbClr val="6FA8DC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13k</c:v>
                </c:pt>
                <c:pt idx="1">
                  <c:v>110k</c:v>
                </c:pt>
                <c:pt idx="2">
                  <c:v>406k</c:v>
                </c:pt>
                <c:pt idx="3">
                  <c:v>1.16M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0.71</c:v>
                </c:pt>
                <c:pt idx="1">
                  <c:v>1.78</c:v>
                </c:pt>
                <c:pt idx="2">
                  <c:v>5.27</c:v>
                </c:pt>
                <c:pt idx="3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Model size (variables)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At val="0.1"/>
        <c:auto val="1"/>
        <c:lblAlgn val="ctr"/>
        <c:lblOffset val="100"/>
        <c:noMultiLvlLbl val="0"/>
      </c:catAx>
      <c:valAx>
        <c:axId val="2140495176"/>
        <c:scaling>
          <c:logBase val="10"/>
          <c:min val="0.1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youtu.be/pPTe-d_TByU" TargetMode="External"/><Relationship Id="rId7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NAMAN-THAKUR-1944/SIH2026-SIH26153-VIGHNAX" TargetMode="External"/><Relationship Id="rId5" Type="http://schemas.openxmlformats.org/officeDocument/2006/relationships/hyperlink" Target="https://youtu.be/pPTe-d_TByU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30936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Problem Statement ID – </a:t>
            </a:r>
            <a:r>
              <a:rPr sz="2000" b="0">
                <a:latin typeface="Arial"/>
              </a:rPr>
              <a:t>SIH26119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Problem Statement Title- </a:t>
            </a:r>
            <a:r>
              <a:rPr sz="2000" b="0">
                <a:latin typeface="Arial"/>
              </a:rPr>
              <a:t>Indigenous GPU-Accelerated Optimization Solver (Sovereign Alternative to Express / CEPLEX)</a:t>
            </a:r>
          </a:p>
          <a:p>
            <a:pPr marL="285750" indent="-285750" algn="l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Theme- </a:t>
            </a:r>
            <a:r>
              <a:rPr sz="2000" b="0">
                <a:latin typeface="Arial"/>
              </a:rPr>
              <a:t>Smart Automation</a:t>
            </a:r>
          </a:p>
          <a:p>
            <a:pPr marL="285750" indent="-285750" algn="l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PS Category- </a:t>
            </a:r>
            <a:r>
              <a:rPr sz="2000" b="0">
                <a:latin typeface="Arial"/>
              </a:rPr>
              <a:t>Software</a:t>
            </a:r>
          </a:p>
          <a:p>
            <a:pPr marL="285750" indent="-285750" algn="l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Team ID- </a:t>
            </a:r>
            <a:r>
              <a:rPr sz="2000" b="0">
                <a:latin typeface="Arial"/>
              </a:rPr>
              <a:t>127364</a:t>
            </a:r>
          </a:p>
          <a:p>
            <a:pPr marL="285750" indent="-285750" algn="l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Team Name (Registered on portal)- </a:t>
            </a:r>
            <a:r>
              <a:rPr sz="2000" b="0">
                <a:latin typeface="Arial"/>
              </a:rPr>
              <a:t>VIGHNAX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228600"/>
            <a:ext cx="7863840" cy="868680"/>
          </a:xfrm>
        </p:spPr>
        <p:txBody>
          <a:bodyPr wrap="square" anchor="ctr"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SAMADHAN: a sovereign, GPU-first optimization solver built from scratch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43000"/>
            <a:ext cx="6903720" cy="512064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700" b="1" lang="en-US">
                <a:solidFill>
                  <a:srgbClr val="1F4E9A"/>
                </a:solidFill>
                <a:latin typeface="Arial"/>
              </a:rPr>
              <a:t>Proposed Solution (Describe your Idea/Solution/Prototype)</a:t>
            </a:r>
          </a:p>
          <a:p>
            <a:pPr marL="228600" indent="-228600">
              <a:spcBef>
                <a:spcPts val="700"/>
              </a:spcBef>
              <a:buFont typeface="Wingdings"/>
              <a:buChar char="v"/>
            </a:pPr>
            <a:r>
              <a:rPr sz="1500" b="1" lang="en-US">
                <a:solidFill>
                  <a:srgbClr val="1F4E9A"/>
                </a:solidFill>
                <a:latin typeface="Arial"/>
              </a:rPr>
              <a:t>Detailed explanation of the proposed solution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Own solver core, no borrowed engine: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MPS reader, scaling and every algorithm written by us; no CPLEX, Gurobi, Xpress, HiGHS or CBC code inside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GPU LP engine (working today):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restarted primal-dual hybrid gradient (PDLP); needs only sparse matrix-vector products, so it runs fully on an NVIDIA GPU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MILP started, QP next: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our branch-and-bound on our own simplex already proves the same optimum as HiGHS on 10/10 refinery MILPs; cuts, heuristics and QP follow</a:t>
            </a:r>
          </a:p>
          <a:p>
            <a:pPr marL="228600" indent="-228600">
              <a:spcBef>
                <a:spcPts val="700"/>
              </a:spcBef>
              <a:buFont typeface="Wingdings"/>
              <a:buChar char="v"/>
            </a:pPr>
            <a:r>
              <a:rPr sz="1500" b="1" lang="en-US">
                <a:solidFill>
                  <a:srgbClr val="1F4E9A"/>
                </a:solidFill>
                <a:latin typeface="Arial"/>
              </a:rPr>
              <a:t>How it addresses the problem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Built for refinery planning: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solves crude-blending and product-dispatch LPs up to 1.2 million variables on a laptop GPU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Faster where it matters: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on the largest model, 5.1× faster than HiGHS with cost within 0.00016% of optimal; 22× faster in fast mode</a:t>
            </a:r>
          </a:p>
          <a:p>
            <a:pPr marL="228600" indent="-228600">
              <a:spcBef>
                <a:spcPts val="700"/>
              </a:spcBef>
              <a:buFont typeface="Wingdings"/>
              <a:buChar char="v"/>
            </a:pPr>
            <a:r>
              <a:rPr sz="1500" b="1" lang="en-US">
                <a:solidFill>
                  <a:srgbClr val="1F4E9A"/>
                </a:solidFill>
                <a:latin typeface="Arial"/>
              </a:rPr>
              <a:t>Innovation and uniqueness of the solution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GPU-first, factorisation-free: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memory-light and massively parallel, scales past the limits of simplex and interior point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Transparent and tunable: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open, auditable code that Indian engineers can inspect and adapt to MRPL's own models</a:t>
            </a:r>
          </a:p>
        </p:txBody>
      </p:sp>
      <p:graphicFrame>
        <p:nvGraphicFramePr>
          <p:cNvPr id="15363" name="Chart 15362"/>
          <p:cNvGraphicFramePr>
            <a:graphicFrameLocks noGrp="1"/>
          </p:cNvGraphicFramePr>
          <p:nvPr/>
        </p:nvGraphicFramePr>
        <p:xfrm>
          <a:off x="7498079" y="1188720"/>
          <a:ext cx="4434840" cy="2926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364" name="TextBox 15363"/>
          <p:cNvSpPr txBox="1"/>
          <p:nvPr/>
        </p:nvSpPr>
        <p:spPr>
          <a:xfrm>
            <a:off x="7543800" y="4114800"/>
            <a:ext cx="4389120" cy="41148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0" indent="0">
              <a:buNone/>
            </a:pPr>
            <a:r>
              <a:rPr sz="1000" b="0" lang="en-US">
                <a:solidFill>
                  <a:srgbClr val="555555"/>
                </a:solidFill>
                <a:latin typeface="Arial"/>
              </a:rPr>
              <a:t>Working prototype; same models, same laptop. Each solver credited with its faster method.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543800" y="4617720"/>
            <a:ext cx="137160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2400" b="1" lang="en-US">
                <a:solidFill>
                  <a:srgbClr val="1F4E9A"/>
                </a:solidFill>
                <a:latin typeface="Arial"/>
              </a:rPr>
              <a:t>5.1×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faster than HiGHS on 1.2M variables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9052560" y="4617720"/>
            <a:ext cx="137160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2400" b="1" lang="en-US">
                <a:solidFill>
                  <a:srgbClr val="1F4E9A"/>
                </a:solidFill>
                <a:latin typeface="Arial"/>
              </a:rPr>
              <a:t>22×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faster in fast mode (1e-4)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0561320" y="4617720"/>
            <a:ext cx="137160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1900" b="1" lang="en-US">
                <a:solidFill>
                  <a:srgbClr val="1F4E9A"/>
                </a:solidFill>
                <a:latin typeface="Arial"/>
              </a:rPr>
              <a:t>0.00019%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worst cost error vs optimum (1e-6)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11338560" cy="146304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700" b="1" lang="en-US">
                <a:solidFill>
                  <a:srgbClr val="1F4E9A"/>
                </a:solidFill>
                <a:latin typeface="Arial"/>
              </a:rPr>
              <a:t>Technologies to be used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Solver core: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Python 3 + PyTorch CUDA sparse kernels (prototype), moving hot loops to C++/CUDA; NumPy/SciPy only as data containers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Interfaces: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Python API, command-line tool, MPS/LP files; REST service for plant planning systems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Hardware: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any NVIDIA GPU (tested on RTX 5050 Laptop, 8 GB); the same code runs on CPU-only servers</a:t>
            </a:r>
          </a:p>
          <a:p>
            <a:pPr marL="228600" indent="-228600">
              <a:spcBef>
                <a:spcPts val="600"/>
              </a:spcBef>
              <a:buFont typeface="Wingdings"/>
              <a:buChar char="v"/>
            </a:pPr>
            <a:r>
              <a:rPr sz="1700" b="1" lang="en-US">
                <a:solidFill>
                  <a:srgbClr val="1F4E9A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2743200"/>
            <a:ext cx="2057400" cy="141732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15875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1300" b="1" lang="en-US">
                <a:solidFill>
                  <a:srgbClr val="1F4E9A"/>
                </a:solidFill>
                <a:latin typeface="Arial"/>
              </a:rPr>
              <a:t>Model input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MPS / LP files, Python API, MRPL planning data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2587751" y="3342132"/>
            <a:ext cx="192024" cy="219456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807208" y="2743200"/>
            <a:ext cx="2057400" cy="141732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15875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1300" b="1" lang="en-US">
                <a:solidFill>
                  <a:srgbClr val="1F4E9A"/>
                </a:solidFill>
                <a:latin typeface="Arial"/>
              </a:rPr>
              <a:t>Scaling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Ruiz and Pock-Chambolle equilibration (presolve added in build phase)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4892040" y="3342132"/>
            <a:ext cx="192024" cy="219456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5111496" y="2743200"/>
            <a:ext cx="2057400" cy="141732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15875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1300" b="1" lang="en-US">
                <a:solidFill>
                  <a:srgbClr val="1F4E9A"/>
                </a:solidFill>
                <a:latin typeface="Arial"/>
              </a:rPr>
              <a:t>GPU LP engine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restarted PDHG, adaptive steps and restarts, all on CUDA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7196328" y="3342132"/>
            <a:ext cx="192024" cy="219456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7415784" y="2743200"/>
            <a:ext cx="2057400" cy="1417320"/>
          </a:xfrm>
          <a:prstGeom prst="roundRect">
            <a:avLst>
              <a:gd name="adj" fmla="val 7000"/>
            </a:avLst>
          </a:prstGeom>
          <a:solidFill>
            <a:srgbClr val="FFF4E0"/>
          </a:solidFill>
          <a:ln w="15875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1300" b="1" lang="en-US">
                <a:solidFill>
                  <a:srgbClr val="1F4E9A"/>
                </a:solidFill>
                <a:latin typeface="Arial"/>
              </a:rPr>
              <a:t>Polish + crossover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dual simplex on CPU for exact vertex solutions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9500616" y="3342132"/>
            <a:ext cx="192024" cy="219456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9720072" y="2743200"/>
            <a:ext cx="2057400" cy="141732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15875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algn="ctr" marL="0" indent="0">
              <a:buNone/>
            </a:pPr>
            <a:r>
              <a:rPr sz="1300" b="1" lang="en-US">
                <a:solidFill>
                  <a:srgbClr val="1F4E9A"/>
                </a:solidFill>
                <a:latin typeface="Arial"/>
              </a:rPr>
              <a:t>Result + audit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lang="en-US">
                <a:solidFill>
                  <a:srgbClr val="202020"/>
                </a:solidFill>
                <a:latin typeface="Arial"/>
              </a:rPr>
              <a:t>solution, duals, KKT certificate, logs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443484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15875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marL="0" indent="0">
              <a:buNone/>
            </a:pPr>
            <a:r>
              <a:rPr sz="1100" b="1" lang="en-US">
                <a:solidFill>
                  <a:srgbClr val="202020"/>
                </a:solidFill>
                <a:latin typeface="Arial"/>
              </a:rPr>
              <a:t>MILP layer: </a:t>
            </a:r>
            <a:r>
              <a:rPr sz="1100" b="0" lang="en-US">
                <a:solidFill>
                  <a:srgbClr val="202020"/>
                </a:solidFill>
                <a:latin typeface="Arial"/>
              </a:rPr>
              <a:t>branch-and-bound on our own simplex (built; exact on 10/10 test MILPs). Next: cuts (Gomory, MIR, cover), presolve, heuristics (feasibility pump, RINS), GPU LP for large relaxations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72200" y="4434840"/>
            <a:ext cx="310896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marL="0" indent="0">
              <a:buNone/>
            </a:pPr>
            <a:r>
              <a:rPr sz="1100" b="1" lang="en-US">
                <a:solidFill>
                  <a:srgbClr val="202020"/>
                </a:solidFill>
                <a:latin typeface="Arial"/>
              </a:rPr>
              <a:t>QP layer: </a:t>
            </a:r>
            <a:r>
              <a:rPr sz="1100" b="0" lang="en-US">
                <a:solidFill>
                  <a:srgbClr val="202020"/>
                </a:solidFill>
                <a:latin typeface="Arial"/>
              </a:rPr>
              <a:t>primal-dual QP (PDQP) on the same GPU kernels; later MIQP and NLP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464040" y="4434840"/>
            <a:ext cx="23317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marL="0" indent="0">
              <a:buNone/>
            </a:pPr>
            <a:r>
              <a:rPr sz="1100" b="1" lang="en-US">
                <a:solidFill>
                  <a:srgbClr val="202020"/>
                </a:solidFill>
                <a:latin typeface="Arial"/>
              </a:rPr>
              <a:t>Legend</a:t>
            </a:r>
          </a:p>
          <a:p>
            <a:pPr marL="0" indent="0">
              <a:spcBef>
                <a:spcPts val="300"/>
              </a:spcBef>
              <a:buNone/>
            </a:pPr>
            <a:r>
              <a:rPr sz="1050" b="1" lang="en-US">
                <a:solidFill>
                  <a:srgbClr val="1E7B4F"/>
                </a:solidFill>
                <a:latin typeface="Arial"/>
              </a:rPr>
              <a:t>■ </a:t>
            </a:r>
            <a:r>
              <a:rPr sz="1050" b="0" lang="en-US">
                <a:solidFill>
                  <a:srgbClr val="1E7B4F"/>
                </a:solidFill>
                <a:latin typeface="Arial"/>
              </a:rPr>
              <a:t>built and tested today</a:t>
            </a:r>
          </a:p>
          <a:p>
            <a:pPr marL="0" indent="0">
              <a:spcBef>
                <a:spcPts val="200"/>
              </a:spcBef>
              <a:buNone/>
            </a:pPr>
            <a:r>
              <a:rPr sz="1050" b="1" lang="en-US">
                <a:solidFill>
                  <a:srgbClr val="C98A1B"/>
                </a:solidFill>
                <a:latin typeface="Arial"/>
              </a:rPr>
              <a:t>■ </a:t>
            </a:r>
            <a:r>
              <a:rPr sz="1050" b="0" lang="en-US">
                <a:solidFill>
                  <a:srgbClr val="C98A1B"/>
                </a:solidFill>
                <a:latin typeface="Arial"/>
              </a:rPr>
              <a:t>planned, SIH build phase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02920" y="5870448"/>
            <a:ext cx="11247120" cy="36576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0" indent="0">
              <a:buNone/>
            </a:pPr>
            <a:r>
              <a:rPr sz="1000" b="0" lang="en-US">
                <a:solidFill>
                  <a:srgbClr val="555555"/>
                </a:solidFill>
                <a:latin typeface="Arial"/>
              </a:rPr>
              <a:t>Every stage is our own code. HiGHS is used only as an outside benchmark to check answers and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5760720" cy="192024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700" b="1" lang="en-US">
                <a:solidFill>
                  <a:srgbClr val="1F4E9A"/>
                </a:solidFill>
                <a:latin typeface="Arial"/>
              </a:rPr>
              <a:t>Analysis of the feasibility of the idea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200" b="1" lang="en-US">
                <a:solidFill>
                  <a:srgbClr val="202020"/>
                </a:solidFill>
                <a:latin typeface="Arial"/>
              </a:rPr>
              <a:t>Already working: </a:t>
            </a:r>
            <a:r>
              <a:rPr sz="1200" b="0" lang="en-US">
                <a:solidFill>
                  <a:srgbClr val="202020"/>
                </a:solidFill>
                <a:latin typeface="Arial"/>
              </a:rPr>
              <a:t>every refinery test LP solved, cost within 0.00019% of the true optimum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200" b="1" lang="en-US">
                <a:solidFill>
                  <a:srgbClr val="202020"/>
                </a:solidFill>
                <a:latin typeface="Arial"/>
              </a:rPr>
              <a:t>Modest hardware: </a:t>
            </a:r>
            <a:r>
              <a:rPr sz="1200" b="0" lang="en-US">
                <a:solidFill>
                  <a:srgbClr val="202020"/>
                </a:solidFill>
                <a:latin typeface="Arial"/>
              </a:rPr>
              <a:t>1.2M variables, 2.3M nonzeros on one 8 GB laptop GPU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200" b="1" lang="en-US">
                <a:solidFill>
                  <a:srgbClr val="202020"/>
                </a:solidFill>
                <a:latin typeface="Arial"/>
              </a:rPr>
              <a:t>Proven, published algorithms: </a:t>
            </a:r>
            <a:r>
              <a:rPr sz="1200" b="0" lang="en-US">
                <a:solidFill>
                  <a:srgbClr val="202020"/>
                </a:solidFill>
                <a:latin typeface="Arial"/>
              </a:rPr>
              <a:t>PDLP-type methods are peer-reviewed and used in commercial solvers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200" b="1" lang="en-US">
                <a:solidFill>
                  <a:srgbClr val="202020"/>
                </a:solidFill>
                <a:latin typeface="Arial"/>
              </a:rPr>
              <a:t>Clear plan: </a:t>
            </a:r>
            <a:r>
              <a:rPr sz="1200" b="0" lang="en-US">
                <a:solidFill>
                  <a:srgbClr val="202020"/>
                </a:solidFill>
                <a:latin typeface="Arial"/>
              </a:rPr>
              <a:t>LP done, MILP working on small models; cuts, QP and scale-up next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3017520"/>
            <a:ext cx="5577840" cy="109728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marL="0" indent="0">
              <a:buNone/>
            </a:pPr>
            <a:r>
              <a:rPr sz="1100" b="1" lang="en-US">
                <a:solidFill>
                  <a:srgbClr val="202020"/>
                </a:solidFill>
                <a:latin typeface="Arial"/>
              </a:rPr>
              <a:t>Netlib: 86/91 LPs solved </a:t>
            </a:r>
            <a:r>
              <a:rPr sz="1100" b="0" lang="en-US">
                <a:solidFill>
                  <a:srgbClr val="202020"/>
                </a:solidFill>
                <a:latin typeface="Arial"/>
              </a:rPr>
              <a:t>to 1e-4 relative KKT (80 within 0.1% of optimum); MPS reader matches HiGHS on 91/91. The 5 left are ill-conditioned cases for our simplex crossover.</a:t>
            </a:r>
          </a:p>
          <a:p>
            <a:pPr marL="0" indent="0">
              <a:spcBef>
                <a:spcPts val="300"/>
              </a:spcBef>
              <a:buNone/>
            </a:pPr>
            <a:r>
              <a:rPr sz="1100" b="1" lang="en-US">
                <a:solidFill>
                  <a:srgbClr val="202020"/>
                </a:solidFill>
                <a:latin typeface="Arial"/>
              </a:rPr>
              <a:t>MILP: 10/10 refinery MILPs </a:t>
            </a:r>
            <a:r>
              <a:rPr sz="1100" b="0" lang="en-US">
                <a:solidFill>
                  <a:srgbClr val="202020"/>
                </a:solidFill>
                <a:latin typeface="Arial"/>
              </a:rPr>
              <a:t>proven optimal by our branch-and-bound, same cost as HiGHS.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6309360" y="1188720"/>
          <a:ext cx="5486400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83280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73152" marR="73152" marT="36576" marB="36576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How we handle it</a:t>
                      </a:r>
                    </a:p>
                  </a:txBody>
                  <a:tcPr marL="73152" marR="73152" marT="36576" marB="36576">
                    <a:solidFill>
                      <a:srgbClr val="1F4E9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First-order methods give moderate accuracy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Restarts and tight KKT checks, then simplex crossover for exact vertices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Hard MILPs need years of tuning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Start with the MIPLIB 'easy' set and refinery MILPs; add cuts and heuristics step by step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Degenerate or ill-conditioned models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Ruiz scaling, float64, presolve; crossover for Netlib's hard cases (pilot4, perold, greenbea)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No GPU at a site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Same code runs on CPU; GPU only where it is measurably faster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411480" y="4251960"/>
          <a:ext cx="11384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234440"/>
                <a:gridCol w="1234440"/>
                <a:gridCol w="1097280"/>
                <a:gridCol w="96012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Refinery LP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Variables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Nonzeros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HiGHS (best)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Accurate 1e-6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Cost error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Speed-up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Fast 1e-4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Cost error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Speed-up</a:t>
                      </a:r>
                    </a:p>
                  </a:txBody>
                  <a:tcPr marT="27432" marB="27432">
                    <a:solidFill>
                      <a:srgbClr val="1F4E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Size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13,296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25,416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0.2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2.2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0.000069%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0.1×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0.7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0.013%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0.3×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Size 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109,536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214,092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8.5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12.6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0.00019%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0.7×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1.8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0.017%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4.8×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Size L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406,080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796,512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63.9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30.7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0.000035%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2.1×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5.3 s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0.015%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12×</a:t>
                      </a:r>
                    </a:p>
                  </a:txBody>
                  <a:tcPr marT="27432" marB="27432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Size XL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1,157,120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2,273,888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323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63.7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0.00016%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5.1×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15.0 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0.070%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22×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411480" y="57150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0" indent="0">
              <a:buNone/>
            </a:pPr>
            <a:r>
              <a:rPr sz="1000" b="0" lang="en-US">
                <a:solidFill>
                  <a:srgbClr val="555555"/>
                </a:solidFill>
                <a:latin typeface="Arial"/>
              </a:rPr>
              <a:t>Measured today on one laptop (RTX 5050 8 GB GPU). HiGHS: faster of dual simplex and interior point, all CPU threads. SAMADHAN: faster of its two GPU methods, at 1e-6 or 1e-4 relative KKT. Cost error vs HiGHS optimum.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5943600" cy="219456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700" b="1" lang="en-US">
                <a:solidFill>
                  <a:srgbClr val="1F4E9A"/>
                </a:solidFill>
                <a:latin typeface="Arial"/>
              </a:rPr>
              <a:t>Potential impact on the target audience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MRPL and other refineries: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faster crude selection, blending and dispatch plans; more what-if scenarios per planning cycle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Power, logistics, steel, railways: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the same engine serves unit commitment, routing and production planning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300" b="1" lang="en-US">
                <a:solidFill>
                  <a:srgbClr val="202020"/>
                </a:solidFill>
                <a:latin typeface="Arial"/>
              </a:rPr>
              <a:t>Strategic users: </a:t>
            </a:r>
            <a:r>
              <a:rPr sz="1300" b="0" lang="en-US">
                <a:solidFill>
                  <a:srgbClr val="202020"/>
                </a:solidFill>
                <a:latin typeface="Arial"/>
              </a:rPr>
              <a:t>runs air-gapped and on-premise, with no licence server and no data leaving the site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3154680"/>
            <a:ext cx="6217920" cy="36576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450" b="1" lang="en-US">
                <a:solidFill>
                  <a:srgbClr val="1F4E9A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3703320"/>
            <a:ext cx="2862072" cy="11887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64008" bIns="64008"/>
          <a:lstStyle/>
          <a:p>
            <a:pPr marL="0" indent="0">
              <a:buNone/>
            </a:pPr>
            <a:r>
              <a:rPr sz="1400" b="1" lang="en-US">
                <a:solidFill>
                  <a:srgbClr val="1F4E9A"/>
                </a:solidFill>
                <a:latin typeface="Arial"/>
              </a:rPr>
              <a:t>Economic</a:t>
            </a:r>
          </a:p>
          <a:p>
            <a:pPr marL="0" indent="0">
              <a:spcBef>
                <a:spcPts val="300"/>
              </a:spcBef>
              <a:buNone/>
            </a:pPr>
            <a:r>
              <a:rPr sz="1150" b="0" lang="en-US">
                <a:solidFill>
                  <a:srgbClr val="202020"/>
                </a:solidFill>
                <a:latin typeface="Arial"/>
              </a:rPr>
              <a:t>No per-core or per-user licence fees; GPU speed-ups cut planning time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493008" y="3703320"/>
            <a:ext cx="2862072" cy="11887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64008" bIns="64008"/>
          <a:lstStyle/>
          <a:p>
            <a:pPr marL="0" indent="0">
              <a:buNone/>
            </a:pPr>
            <a:r>
              <a:rPr sz="1400" b="1" lang="en-US">
                <a:solidFill>
                  <a:srgbClr val="1F4E9A"/>
                </a:solidFill>
                <a:latin typeface="Arial"/>
              </a:rPr>
              <a:t>Sovereignty</a:t>
            </a:r>
          </a:p>
          <a:p>
            <a:pPr marL="0" indent="0">
              <a:spcBef>
                <a:spcPts val="300"/>
              </a:spcBef>
              <a:buNone/>
            </a:pPr>
            <a:r>
              <a:rPr sz="1150" b="0" lang="en-US">
                <a:solidFill>
                  <a:srgbClr val="202020"/>
                </a:solidFill>
                <a:latin typeface="Arial"/>
              </a:rPr>
              <a:t>Indian-owned solver code that can be audited, changed and certified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5001768"/>
            <a:ext cx="2862072" cy="11887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64008" bIns="64008"/>
          <a:lstStyle/>
          <a:p>
            <a:pPr marL="0" indent="0">
              <a:buNone/>
            </a:pPr>
            <a:r>
              <a:rPr sz="1400" b="1" lang="en-US">
                <a:solidFill>
                  <a:srgbClr val="1F4E9A"/>
                </a:solidFill>
                <a:latin typeface="Arial"/>
              </a:rPr>
              <a:t>Environmental</a:t>
            </a:r>
          </a:p>
          <a:p>
            <a:pPr marL="0" indent="0">
              <a:spcBef>
                <a:spcPts val="300"/>
              </a:spcBef>
              <a:buNone/>
            </a:pPr>
            <a:r>
              <a:rPr sz="1150" b="0" lang="en-US">
                <a:solidFill>
                  <a:srgbClr val="202020"/>
                </a:solidFill>
                <a:latin typeface="Arial"/>
              </a:rPr>
              <a:t>Better crude and energy plans mean less fuel, flaring and waste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493008" y="5001768"/>
            <a:ext cx="2862072" cy="11887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64008" bIns="64008"/>
          <a:lstStyle/>
          <a:p>
            <a:pPr marL="0" indent="0">
              <a:buNone/>
            </a:pPr>
            <a:r>
              <a:rPr sz="1400" b="1" lang="en-US">
                <a:solidFill>
                  <a:srgbClr val="1F4E9A"/>
                </a:solidFill>
                <a:latin typeface="Arial"/>
              </a:rPr>
              <a:t>Social</a:t>
            </a:r>
          </a:p>
          <a:p>
            <a:pPr marL="0" indent="0">
              <a:spcBef>
                <a:spcPts val="300"/>
              </a:spcBef>
              <a:buNone/>
            </a:pPr>
            <a:r>
              <a:rPr sz="1150" b="0" lang="en-US">
                <a:solidFill>
                  <a:srgbClr val="202020"/>
                </a:solidFill>
                <a:latin typeface="Arial"/>
              </a:rPr>
              <a:t>Builds Indian skills in optimisation software, a rare capability</a:t>
            </a:r>
          </a:p>
        </p:txBody>
      </p:sp>
      <p:graphicFrame>
        <p:nvGraphicFramePr>
          <p:cNvPr id="17416" name="Chart 17415"/>
          <p:cNvGraphicFramePr>
            <a:graphicFrameLocks noGrp="1"/>
          </p:cNvGraphicFramePr>
          <p:nvPr/>
        </p:nvGraphicFramePr>
        <p:xfrm>
          <a:off x="6675120" y="1188720"/>
          <a:ext cx="5212080" cy="32918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7417" name="TextBox 17416"/>
          <p:cNvSpPr txBox="1"/>
          <p:nvPr/>
        </p:nvSpPr>
        <p:spPr>
          <a:xfrm>
            <a:off x="6720840" y="4526280"/>
            <a:ext cx="5120640" cy="54864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0" indent="0">
              <a:buNone/>
            </a:pPr>
            <a:r>
              <a:rPr sz="1000" b="0" lang="en-US">
                <a:solidFill>
                  <a:srgbClr val="555555"/>
                </a:solidFill>
                <a:latin typeface="Arial"/>
              </a:rPr>
              <a:t>Refinery planning LPs from 13k to 1.16M variables. The gap widens with size, which is where real plant-wide models live.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720840" y="5074920"/>
            <a:ext cx="5120640" cy="10058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marL="0" indent="0">
              <a:buNone/>
            </a:pPr>
            <a:r>
              <a:rPr sz="1200" b="1" lang="en-US">
                <a:solidFill>
                  <a:srgbClr val="202020"/>
                </a:solidFill>
                <a:latin typeface="Arial"/>
              </a:rPr>
              <a:t>Every licence we replace </a:t>
            </a:r>
            <a:r>
              <a:rPr sz="1200" b="0" lang="en-US">
                <a:solidFill>
                  <a:srgbClr val="202020"/>
                </a:solidFill>
                <a:latin typeface="Arial"/>
              </a:rPr>
              <a:t>is money saved each year, and every model we solve in-house stays under Indian control.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8732520" y="1234440"/>
            <a:ext cx="3063240" cy="292608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64008" bIns="64008"/>
          <a:lstStyle/>
          <a:p/>
        </p:txBody>
      </p:sp>
      <p:pic>
        <p:nvPicPr>
          <p:cNvPr id="17411" name="Picture 17410" descr="qr_rep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1371600"/>
            <a:ext cx="1691640" cy="169164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778240" y="3154680"/>
            <a:ext cx="2971800" cy="96012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algn="ctr" marL="0" indent="0">
              <a:buNone/>
            </a:pPr>
            <a:r>
              <a:rPr sz="1200" b="1" lang="en-US">
                <a:solidFill>
                  <a:srgbClr val="1F4E9A"/>
                </a:solidFill>
                <a:latin typeface="Arial"/>
              </a:rPr>
              <a:t>Source code and benchmarks</a:t>
            </a:r>
          </a:p>
          <a:p>
            <a:pPr algn="ctr" marL="0" indent="0">
              <a:spcBef>
                <a:spcPts val="150"/>
              </a:spcBef>
              <a:buNone/>
            </a:pPr>
            <a:r>
              <a:rPr sz="950" b="0" lang="en-US">
                <a:solidFill>
                  <a:srgbClr val="202020"/>
                </a:solidFill>
                <a:latin typeface="Arial"/>
              </a:rPr>
              <a:t>github.com/NAMAN-THAKUR-1944/</a:t>
            </a:r>
          </a:p>
          <a:p>
            <a:pPr algn="ctr" marL="0" indent="0">
              <a:buNone/>
            </a:pPr>
            <a:r>
              <a:rPr sz="950" b="0" lang="en-US">
                <a:solidFill>
                  <a:srgbClr val="202020"/>
                </a:solidFill>
                <a:latin typeface="Arial"/>
              </a:rPr>
              <a:t>SIH2026-SIH26119-SAMADHAN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732520" y="4343400"/>
            <a:ext cx="3063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64008" bIns="64008"/>
          <a:lstStyle/>
          <a:p>
            <a:pPr marL="0" indent="0">
              <a:buNone/>
            </a:pPr>
            <a:r>
              <a:rPr sz="1200" b="1" lang="en-US">
                <a:solidFill>
                  <a:srgbClr val="1F4E9A"/>
                </a:solidFill>
                <a:latin typeface="Arial"/>
              </a:rPr>
              <a:t>Reproduce every number</a:t>
            </a:r>
          </a:p>
          <a:p>
            <a:pPr marL="0" indent="0">
              <a:spcBef>
                <a:spcPts val="300"/>
              </a:spcBef>
              <a:buNone/>
            </a:pPr>
            <a:r>
              <a:rPr sz="950" b="0" lang="en-US">
                <a:solidFill>
                  <a:srgbClr val="202020"/>
                </a:solidFill>
                <a:latin typeface="Arial"/>
              </a:rPr>
              <a:t>python -m samadhan demo --size L</a:t>
            </a:r>
          </a:p>
          <a:p>
            <a:pPr marL="0" indent="0">
              <a:spcBef>
                <a:spcPts val="150"/>
              </a:spcBef>
              <a:buNone/>
            </a:pPr>
            <a:r>
              <a:rPr sz="950" b="0" lang="en-US">
                <a:solidFill>
                  <a:srgbClr val="202020"/>
                </a:solidFill>
                <a:latin typeface="Arial"/>
              </a:rPr>
              <a:t>python bench_final.py S M L XL</a:t>
            </a:r>
          </a:p>
          <a:p>
            <a:pPr marL="0" indent="0">
              <a:spcBef>
                <a:spcPts val="150"/>
              </a:spcBef>
              <a:buNone/>
            </a:pPr>
            <a:r>
              <a:rPr sz="950" b="0" lang="en-US">
                <a:solidFill>
                  <a:srgbClr val="202020"/>
                </a:solidFill>
                <a:latin typeface="Arial"/>
              </a:rPr>
              <a:t>python bench_netlib.py</a:t>
            </a:r>
          </a:p>
          <a:p>
            <a:pPr marL="0" indent="0">
              <a:spcBef>
                <a:spcPts val="150"/>
              </a:spcBef>
              <a:buNone/>
            </a:pPr>
            <a:r>
              <a:rPr sz="950" b="0" lang="en-US">
                <a:solidFill>
                  <a:srgbClr val="202020"/>
                </a:solidFill>
                <a:latin typeface="Arial"/>
              </a:rPr>
              <a:t>python bench_milp.py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1480" y="1097280"/>
            <a:ext cx="8138160" cy="5120640"/>
          </a:xfrm>
          <a:prstGeom prst="rect">
            <a:avLst/>
          </a:prstGeom>
          <a:noFill/>
        </p:spPr>
        <p:txBody>
          <a:bodyPr wrap="square" lIns="45720" rIns="45720" tIns="45720" bIns="45720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700" b="1" lang="en-US">
                <a:solidFill>
                  <a:srgbClr val="1F4E9A"/>
                </a:solidFill>
                <a:latin typeface="Arial"/>
              </a:rPr>
              <a:t>Details / Links of the reference and research work</a:t>
            </a:r>
          </a:p>
          <a:p>
            <a:pPr marL="228600" indent="-228600">
              <a:spcBef>
                <a:spcPts val="700"/>
              </a:spcBef>
              <a:buFont typeface="Wingdings"/>
              <a:buChar char="v"/>
            </a:pPr>
            <a:r>
              <a:rPr sz="1500" b="1" lang="en-US">
                <a:solidFill>
                  <a:srgbClr val="1F4E9A"/>
                </a:solidFill>
                <a:latin typeface="Arial"/>
              </a:rPr>
              <a:t>LP on GPUs (our core)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PDLP: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Applegate, Díaz, Hinder, Lu, Lubin, O'Donoghue, Schudy, Practical Large-Scale Linear Programming using Primal-Dual Hybrid Gradient, NeurIPS 2021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cuPDLP: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Lu &amp; Yang, cuPDLP.jl: A GPU Implementation of Restarted PDHG for Linear Programming, arXiv:2311.12180 (2023)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PDHG and scaling: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Chambolle &amp; Pock, J. Math. Imaging Vision 40 (2011); Ruiz, A scaling algorithm to equilibrate both rows and columns norms in matrices, RAL-TR-2001-034</a:t>
            </a:r>
          </a:p>
          <a:p>
            <a:pPr marL="228600" indent="-228600">
              <a:spcBef>
                <a:spcPts val="700"/>
              </a:spcBef>
              <a:buFont typeface="Wingdings"/>
              <a:buChar char="v"/>
            </a:pPr>
            <a:r>
              <a:rPr sz="1500" b="1" lang="en-US">
                <a:solidFill>
                  <a:srgbClr val="1F4E9A"/>
                </a:solidFill>
                <a:latin typeface="Arial"/>
              </a:rPr>
              <a:t>MILP and QP (build phase)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Branch-and-cut: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Achterberg, Constraint Integer Programming, PhD thesis, TU Berlin (2007); Bixby, A Brief History of Linear and Mixed-Integer Programming Computation, Doc. Math. (2012)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Dual simplex: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Huangfu &amp; Hall, Parallelizing the dual revised simplex method, Math. Prog. Comp. 10 (2018)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QP: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Lu &amp; Yang, A Practical and Optimal First-Order Method for Large-Scale Convex QP (PDQP), arXiv:2311.07710; Stellato et al., OSQP, Math. Prog. Comp. 12 (2020)</a:t>
            </a:r>
          </a:p>
          <a:p>
            <a:pPr marL="228600" indent="-228600">
              <a:spcBef>
                <a:spcPts val="700"/>
              </a:spcBef>
              <a:buFont typeface="Wingdings"/>
              <a:buChar char="v"/>
            </a:pPr>
            <a:r>
              <a:rPr sz="1500" b="1" lang="en-US">
                <a:solidFill>
                  <a:srgbClr val="1F4E9A"/>
                </a:solidFill>
                <a:latin typeface="Arial"/>
              </a:rPr>
              <a:t>Benchmarks the PS asks for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MIPLIB 2017: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Gleixner et al., Math. Prog. Comp. 13 (2021), miplib.zib.de</a:t>
            </a:r>
          </a:p>
          <a:p>
            <a:pPr marL="457200" indent="-228600">
              <a:spcBef>
                <a:spcPts val="250"/>
              </a:spcBef>
              <a:buFont typeface="Arial"/>
              <a:buChar char="•"/>
            </a:pPr>
            <a:r>
              <a:rPr sz="1150" b="1" lang="en-US">
                <a:solidFill>
                  <a:srgbClr val="202020"/>
                </a:solidFill>
                <a:latin typeface="Arial"/>
              </a:rPr>
              <a:t>Netlib LP and Mittelmann benchmarks: </a:t>
            </a:r>
            <a:r>
              <a:rPr sz="1150" b="0" lang="en-US">
                <a:solidFill>
                  <a:srgbClr val="202020"/>
                </a:solidFill>
                <a:latin typeface="Arial"/>
              </a:rPr>
              <a:t>netlib.org/lp  •  plato.asu.edu/bench.html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VIGHNAX: SIH 2026 idea presentation (SIH26153)</dc:title>
  <dc:subject>SIH 2026, SIH26153: AI based Network Attack Forecasting from Network Traffic Data</dc:subject>
  <dc:creator>Team VIGHNAX (127364)</dc:creator>
  <cp:keywords/>
  <dc:description/>
  <cp:lastModifiedBy>Team VIGHNAX (127364)</cp:lastModifiedBy>
  <cp:revision>1</cp:revision>
  <dcterms:created xsi:type="dcterms:W3CDTF">2026-09-30T03:59:23Z</dcterms:created>
  <dcterms:modified xsi:type="dcterms:W3CDTF">2026-09-30T03:59:23Z</dcterms:modified>
  <cp:category/>
</cp:coreProperties>
</file>